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Considered</c:v>
                </c:pt>
              </c:strCache>
            </c:strRef>
          </c:tx>
          <c:spPr>
            <a:solidFill>
              <a:srgbClr val="1A344B"/>
            </a:solidFill>
          </c:spPr>
          <c:cat>
            <c:strRef>
              <c:f>Sheet1!$A$2:$A$7</c:f>
              <c:strCache>
                <c:ptCount val="6"/>
                <c:pt idx="0">
                  <c:v>Senior Account Manager</c:v>
                </c:pt>
                <c:pt idx="1">
                  <c:v>Mid-weight Designer</c:v>
                </c:pt>
                <c:pt idx="2">
                  <c:v>Copywriter</c:v>
                </c:pt>
                <c:pt idx="3">
                  <c:v>Motion Designer</c:v>
                </c:pt>
                <c:pt idx="4">
                  <c:v>Studio Manager</c:v>
                </c:pt>
                <c:pt idx="5">
                  <c:v>Junior Strategist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217</c:v>
                </c:pt>
                <c:pt idx="1">
                  <c:v>270</c:v>
                </c:pt>
                <c:pt idx="2">
                  <c:v>214</c:v>
                </c:pt>
                <c:pt idx="3">
                  <c:v>132</c:v>
                </c:pt>
                <c:pt idx="4">
                  <c:v>141</c:v>
                </c:pt>
                <c:pt idx="5">
                  <c:v>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Shortlisted</c:v>
                </c:pt>
              </c:strCache>
            </c:strRef>
          </c:tx>
          <c:spPr>
            <a:solidFill>
              <a:srgbClr val="C5A72D"/>
            </a:solidFill>
          </c:spPr>
          <c:cat>
            <c:strRef>
              <c:f>Sheet1!$A$2:$A$7</c:f>
              <c:strCache>
                <c:ptCount val="6"/>
                <c:pt idx="0">
                  <c:v>Senior Account Manager</c:v>
                </c:pt>
                <c:pt idx="1">
                  <c:v>Mid-weight Designer</c:v>
                </c:pt>
                <c:pt idx="2">
                  <c:v>Copywriter</c:v>
                </c:pt>
                <c:pt idx="3">
                  <c:v>Motion Designer</c:v>
                </c:pt>
                <c:pt idx="4">
                  <c:v>Studio Manager</c:v>
                </c:pt>
                <c:pt idx="5">
                  <c:v>Junior Strategist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Marlowe &amp; Finch   |   1 May to 1 August 2026   |   6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outputs/Shortlist_Pack.xlsx   |   every figure read from the workbook, none re-typed   |   13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645587" cy="105156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1,240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APPLICATIONS RECEIVED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9675" y="1417320"/>
            <a:ext cx="2645587" cy="1051560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9675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675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ISSUES IDENTIFIED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430" y="1417320"/>
            <a:ext cx="2645587" cy="1051560"/>
          </a:xfrm>
          <a:prstGeom prst="rect">
            <a:avLst/>
          </a:prstGeom>
          <a:solidFill>
            <a:srgbClr val="427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6430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6430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SHORTLISTED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185" y="1417320"/>
            <a:ext cx="2645587" cy="1051560"/>
          </a:xfrm>
          <a:prstGeom prst="rect">
            <a:avLst/>
          </a:prstGeom>
          <a:solidFill>
            <a:srgbClr val="33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185" y="1600200"/>
            <a:ext cx="264558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185" y="2130552"/>
            <a:ext cx="26455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REFERRED TO A PERSON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88920"/>
            <a:ext cx="11185855" cy="13716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900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344B"/>
                </a:solidFill>
                <a:latin typeface="Calibri"/>
              </a:rPr>
              <a:t>36 people to interview, out of 1,240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47288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141 applications were not progressed. Every one of them carries the rule that stopped it, so any candidate who asks gets a straight answer. 19 candidates want more than the approved band and are waiting on a person, because that is a conversation, not a filter.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8056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27F9C"/>
                </a:solidFill>
                <a:latin typeface="Calibri"/>
              </a:rPr>
              <a:t>225 records tidied rather than dropped     |     1,099 considered after screening     |     top 6 per role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Applications received, considered, and shortlisted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outputs/Shortlist_Pack.xlsx   |   every figure read from the workbook, none re-typed   |   13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585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1864309"/>
                <a:gridCol w="1864309"/>
                <a:gridCol w="1864309"/>
                <a:gridCol w="1864309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Received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Considered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Shortlisted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score</a:t>
                      </a:r>
                    </a:p>
                  </a:txBody>
                  <a:tcPr>
                    <a:solidFill>
                      <a:srgbClr val="1A34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Senior Account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Mid-weight Designer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Copywriter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Motion Designer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Studio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Junior Strategist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F1F1F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Where the applications went, by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Considered against shortlisted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outputs/Shortlist_Pack.xlsx   |   every figure read from the workbook, none re-typed   |   13 August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371600"/>
          <a:ext cx="1118585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a person still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6E2"/>
                </a:solidFill>
                <a:latin typeface="Calibri"/>
              </a:rPr>
              <a:t>Produced by the run, not written afterwards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146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5A72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14984"/>
            <a:ext cx="1005840" cy="4114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AA7B4"/>
                </a:solidFill>
                <a:latin typeface="Calibri"/>
              </a:rPr>
              <a:t>Source: outputs/Shortlist_Pack.xlsx   |   every figure read from the workbook, none re-typed   |   13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8000" cy="65836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344B"/>
                </a:solidFill>
                <a:latin typeface="Calibri"/>
              </a:rPr>
              <a:t>Every rejection has a reason on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5564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141 applications were set aside, each named on the Rejection Register with the rule that stopped it and the date. Nothing was rejected on a hunch.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38000" cy="65836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344B"/>
                </a:solidFill>
                <a:latin typeface="Calibri"/>
              </a:rPr>
              <a:t>Salary is a conversation, not a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19 candidates asked above the approved band. They are not rejected. They are on a list for a person to decide.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38000" cy="658368"/>
          </a:xfrm>
          <a:prstGeom prst="rect">
            <a:avLst/>
          </a:prstGeom>
          <a:solidFill>
            <a:srgbClr val="C5A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344B"/>
                </a:solidFill>
                <a:latin typeface="Calibri"/>
              </a:rPr>
              <a:t>The ranking can be explained in a sentence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9300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875"/>
                </a:solidFill>
                <a:latin typeface="Calibri"/>
              </a:rPr>
              <a:t>Every score is made of four visible parts: experience beyond the minimum, qualification, portfolio, and availability. No hidden weighting.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