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exposure</c:v>
                </c:pt>
              </c:strCache>
            </c:strRef>
          </c:tx>
          <c:spPr>
            <a:solidFill>
              <a:srgbClr val="1A344B"/>
            </a:solidFill>
          </c:spPr>
          <c:cat>
            <c:strRef>
              <c:f>Sheet1!$A$2:$A$7</c:f>
              <c:strCache>
                <c:ptCount val="6"/>
                <c:pt idx="0">
                  <c:v>Commercial Property</c:v>
                </c:pt>
                <c:pt idx="1">
                  <c:v>Residential Mortgage</c:v>
                </c:pt>
                <c:pt idx="2">
                  <c:v>Buy-to-Let Mortgage</c:v>
                </c:pt>
                <c:pt idx="3">
                  <c:v>SME Lending</c:v>
                </c:pt>
                <c:pt idx="4">
                  <c:v>Credit Facilities</c:v>
                </c:pt>
                <c:pt idx="5">
                  <c:v>Personal Lending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9538.01306336</c:v>
                </c:pt>
                <c:pt idx="1">
                  <c:v>5241.44886576</c:v>
                </c:pt>
                <c:pt idx="2">
                  <c:v>3084.2224463899997</c:v>
                </c:pt>
                <c:pt idx="3">
                  <c:v>1785.2511164100001</c:v>
                </c:pt>
                <c:pt idx="4">
                  <c:v>466.2559708</c:v>
                </c:pt>
                <c:pt idx="5">
                  <c:v>131.42662386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Risk-weighted</c:v>
                </c:pt>
              </c:strCache>
            </c:strRef>
          </c:tx>
          <c:spPr>
            <a:solidFill>
              <a:srgbClr val="C5A72D"/>
            </a:solidFill>
          </c:spPr>
          <c:cat>
            <c:strRef>
              <c:f>Sheet1!$A$2:$A$7</c:f>
              <c:strCache>
                <c:ptCount val="6"/>
                <c:pt idx="0">
                  <c:v>Commercial Property</c:v>
                </c:pt>
                <c:pt idx="1">
                  <c:v>Residential Mortgage</c:v>
                </c:pt>
                <c:pt idx="2">
                  <c:v>Buy-to-Let Mortgage</c:v>
                </c:pt>
                <c:pt idx="3">
                  <c:v>SME Lending</c:v>
                </c:pt>
                <c:pt idx="4">
                  <c:v>Credit Facilities</c:v>
                </c:pt>
                <c:pt idx="5">
                  <c:v>Personal Lending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9538.01306336</c:v>
                </c:pt>
                <c:pt idx="1">
                  <c:v>1834.50710302</c:v>
                </c:pt>
                <c:pt idx="2">
                  <c:v>2313.16683479</c:v>
                </c:pt>
                <c:pt idx="3">
                  <c:v>1517.4634489500002</c:v>
                </c:pt>
                <c:pt idx="4">
                  <c:v>699.3839562000001</c:v>
                </c:pt>
                <c:pt idx="5">
                  <c:v>98.56996789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&quot;m&quot;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exposure</c:v>
                </c:pt>
              </c:strCache>
            </c:strRef>
          </c:tx>
          <c:spPr>
            <a:ln>
              <a:solidFill>
                <a:srgbClr val="1A344B"/>
              </a:solidFill>
            </a:ln>
          </c:spPr>
          <c:cat>
            <c:strRef>
              <c:f>Sheet1!$A$2:$A$13</c:f>
              <c:strCache>
                <c:ptCount val="12"/>
                <c:pt idx="0">
                  <c:v>Jul 25</c:v>
                </c:pt>
                <c:pt idx="1">
                  <c:v>Aug 25</c:v>
                </c:pt>
                <c:pt idx="2">
                  <c:v>Sep 25</c:v>
                </c:pt>
                <c:pt idx="3">
                  <c:v>Oct 25</c:v>
                </c:pt>
                <c:pt idx="4">
                  <c:v>Nov 25</c:v>
                </c:pt>
                <c:pt idx="5">
                  <c:v>Dec 25</c:v>
                </c:pt>
                <c:pt idx="6">
                  <c:v>Jan 26</c:v>
                </c:pt>
                <c:pt idx="7">
                  <c:v>Feb 26</c:v>
                </c:pt>
                <c:pt idx="8">
                  <c:v>Mar 26</c:v>
                </c:pt>
                <c:pt idx="9">
                  <c:v>Apr 26</c:v>
                </c:pt>
                <c:pt idx="10">
                  <c:v>May 26</c:v>
                </c:pt>
                <c:pt idx="11">
                  <c:v>Jun 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1680.24342233</c:v>
                </c:pt>
                <c:pt idx="1">
                  <c:v>1791.7732238499998</c:v>
                </c:pt>
                <c:pt idx="2">
                  <c:v>1631.03044959</c:v>
                </c:pt>
                <c:pt idx="3">
                  <c:v>1623.78040914</c:v>
                </c:pt>
                <c:pt idx="4">
                  <c:v>1643.0012886700001</c:v>
                </c:pt>
                <c:pt idx="5">
                  <c:v>1722.92795672</c:v>
                </c:pt>
                <c:pt idx="6">
                  <c:v>1703.4316058299999</c:v>
                </c:pt>
                <c:pt idx="7">
                  <c:v>1620.92643191</c:v>
                </c:pt>
                <c:pt idx="8">
                  <c:v>1716.26883669</c:v>
                </c:pt>
                <c:pt idx="9">
                  <c:v>1712.6490770599999</c:v>
                </c:pt>
                <c:pt idx="10">
                  <c:v>1831.63964255</c:v>
                </c:pt>
                <c:pt idx="11">
                  <c:v>1568.94574224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&quot;m&quot;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Ashcombe Mutual   |   July 2025 to June 2026   |   12 reporting periods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outputs/Regulatory_Return_Pack.xlsx   |   every figure read from the workbook, none re-typed   |   13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645587" cy="105156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62,400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RECORDS PROCESSED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9675" y="1417320"/>
            <a:ext cx="2645587" cy="1051560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9675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9675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ISSUES IDENTIFIED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430" y="1417320"/>
            <a:ext cx="2645587" cy="1051560"/>
          </a:xfrm>
          <a:prstGeom prst="rect">
            <a:avLst/>
          </a:prstGeom>
          <a:solidFill>
            <a:srgbClr val="427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6430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62,267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6430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RECORDS REPORTED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3185" y="1417320"/>
            <a:ext cx="2645587" cy="1051560"/>
          </a:xfrm>
          <a:prstGeom prst="rect">
            <a:avLst/>
          </a:prstGeom>
          <a:solidFill>
            <a:srgbClr val="33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185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185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REFERRED TO A PERSON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88920"/>
            <a:ext cx="11185855" cy="13716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900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344B"/>
                </a:solidFill>
                <a:latin typeface="Calibri"/>
              </a:rPr>
              <a:t>Gross exposure £20,246,618,087 against risk-weighted £16,001,104,374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47288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99.8% of records were reportable after the rules ran. 133 records were excluded and are listed for follow-up. 17 exposures crossed the large-exposure threshold and are waiting on a person, not on the system.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8056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27F9C"/>
                </a:solidFill>
                <a:latin typeface="Calibri"/>
              </a:rPr>
              <a:t>759 records repaired and retained     |     133 excluded from reported figures     |     average risk weight 79.0%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Exposure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Reported figures only, after the rules 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outputs/Regulatory_Return_Pack.xlsx   |   every figure read from the workbook, none re-typed   |   13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58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0687"/>
                <a:gridCol w="2033791"/>
                <a:gridCol w="3050687"/>
                <a:gridCol w="3050687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Gross exposure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Risk-weighted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Northern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15,480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£5,248,249,231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£4,177,488,934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Western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15,701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£5,079,825,366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£4,016,739,061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Eastern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15,433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£5,007,784,699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£3,951,854,872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Southern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15,653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£4,910,758,790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£3,855,021,507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Gross against risk-weighted, by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Where the weight sits, not just where the money sits.  Figures in £m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outputs/Regulatory_Return_Pack.xlsx   |   every figure read from the workbook, none re-typed   |   13 August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371600"/>
          <a:ext cx="1118585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Exposure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Gross reported exposure by booking month.  Figures in £m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outputs/Regulatory_Return_Pack.xlsx   |   every figure read from the workbook, none re-typed   |   13 August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371600"/>
          <a:ext cx="1118585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a person needs to look 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Produced by the run, not written afterwards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outputs/Regulatory_Return_Pack.xlsx   |   every figure read from the workbook, none re-typed   |   13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8000" cy="65836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344B"/>
                </a:solidFill>
                <a:latin typeface="Calibri"/>
              </a:rPr>
              <a:t>The referral list is the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5564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17 exposures at or above £25,000,000 are reported and flagged. The system does not decide a large-exposure disclosure, and it is not trying 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38000" cy="65836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344B"/>
                </a:solidFill>
                <a:latin typeface="Calibri"/>
              </a:rPr>
              <a:t>Exclusions are visible, not silent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24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133 records could not be reported. Every one of them is named on the Referrals sheet with the rule that excluded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38000" cy="65836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344B"/>
                </a:solidFill>
                <a:latin typeface="Calibri"/>
              </a:rPr>
              <a:t>The rules are readable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9300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All 8 rules are printed in plain English on the Validation Rules sheet, with what each one caught this 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